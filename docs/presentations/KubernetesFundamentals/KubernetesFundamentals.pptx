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9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 immediately: this is the concept deck to watch/read before opening TUTORIAL.md in this same repo, not a standalone reference. Ten to fifteen minutes to build the mental model before the first kubectl command. Companion to this repo's TUTORIAL.md — read/watch this first, then go hands-on. No prior Kubernetes knowledge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pain, not the architecture. This is the itch that motivated Kubernetes existing at all — no jargon yet, just "here's what breaks."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from "why" to "how" — zoom out to the two kinds of machines before drilling into any one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two-tier model before naming any single component in depth. Emphasize that you never talk to a worker node directly — everything routes through the API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the reader to exactly what they're about to install in TUTORIAL.md Module 0, and flag the one gotcha (containerd runtime flag) before they hit it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of the four focus areas — go one level deeper on the motivation now that the architecture is in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each failure mode concrete with what Kubernetes actually does about it, not just the abstract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concept in the deck — everything downstream (self-healing, scaling) is this same idea running continuously. Spell out declarative vs. imperative explicitly for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focus area — now open the door from Slide 4 and name every piece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component's single job in order — API server first since everything else is described relative to it. Land on kubelet since it's the bridge to the worker-node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concrete request end to end so the component table on the previous slide stops being abstract. Call out the pod-before-container ordering explicitly — it's a detail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focus area — move from control-plane theory into the actual objects readers will type in Module 1 and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"aha" moment of the deck for a first-time reader: run the delete experiment and watch the Pod not come back. Frame it as a problem statement, not a dead end — Slide 14 is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exact delete experiment from Slide 13, but this time on a Deployment-managed Pod — the contrast is the whole point. Tie the self-healing behavior explicitly back to Slide 8's reconciliation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Fourth and final focus area — the last two object types, then the capstone that wires everything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this in the fact that the reader just watched a Pod's IP change in the previous section — a Service is the direct answer to that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conceptual per the high-level depth — one short illustrative snippet, not a manifest walkthrough. The base64-is-not-encryption point is the one thing to land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all four focus areas visibly compose into TUTORIAL.md's Module 5. The DNS-name-per-Service detail and the deploy-order gotcha are the two things worth remembering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"things that were harder than expected" for an onboarding audience — real failure modes pulled straight from the tutorial's own troubleshooting notes, not hypotheticals.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single unifying idea before handing off to TUTORIAL.md — everything walked through today is one mechanism wearing different hats.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handoff — this is the deck's actual job, to end with the reader opening a terminal and starting Module 0 with the mental model already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takeaways, no more — the last line is the one thing worth remembering walking into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DF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Fundamentals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0" y="3566160"/>
            <a:ext cx="12188952" cy="54864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06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map before the hands-on territory: what Kubernetes is, and why every object exists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50" dirty="0">
                <a:solidFill>
                  <a:srgbClr val="306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Motivation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Manually managing containers on a single host breaks down in three predictable ways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574950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host runs out of resources — you're stuck, no way to scale further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577133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container dies and nothing notices — it just sits there, silently not serving traffic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579315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host machine itself dies — every container on it dies too, nothing brings them back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5581498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exists to automate lifecycle, scaling, and recovery across a pool of machines instead of one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A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Cluster Is Architected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 vs. worker nodes, at a glance.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43100"/>
            <a:ext cx="5463540" cy="905256"/>
          </a:xfrm>
          <a:prstGeom prst="roundRect">
            <a:avLst>
              <a:gd name="adj" fmla="val 1010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43100"/>
            <a:ext cx="54635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(API server, etcd,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scheduler, ctrl-mgr)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20740" y="1943100"/>
            <a:ext cx="347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8212" y="1943100"/>
            <a:ext cx="5463540" cy="905256"/>
          </a:xfrm>
          <a:prstGeom prst="roundRect">
            <a:avLst>
              <a:gd name="adj" fmla="val 1010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8212" y="1943100"/>
            <a:ext cx="54635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Node(s)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(kubelet, runtime,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11274552" cy="784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 = the brain, makes decisions, doesn't run your workloads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231386"/>
            <a:ext cx="11274552" cy="784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nodes = the muscle, where containers actually execute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5015484"/>
            <a:ext cx="11274552" cy="784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kubectl command goes through exactly one door: the API server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5799582"/>
            <a:ext cx="11274552" cy="784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Minikube, both roles run on one machine — kubectl get nodes shows a single node doing double duty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Toolchain for This Repo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— the CLI, runs on your machine, talks to whatever cluster your config points at (local or cloud)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25496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Minikube — single-machine stand-in for a real cluster; commands learned here work unchanged against production later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078224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Podman driver — Minikube's own docs mark it experimental; --driver=docker is the safe fallback if you hit a wall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330952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--container-runtime=containerd — required explicitly on macOS + Podman, or you'll hit a confusing ImageInspectError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7A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Kubernetes Exists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failure modes, and the reconciliation loop that fixes all three.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 Failure Modes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CDF4FA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57530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A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3575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06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runs out of resources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06824" y="1572768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CDF4FA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06824" y="1664208"/>
            <a:ext cx="357530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A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06824" y="2670048"/>
            <a:ext cx="3575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06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dies silently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6448" y="1572768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CDF4FA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1664208"/>
            <a:ext cx="357530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A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56448" y="2670048"/>
            <a:ext cx="3575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06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machine dies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11274552" cy="738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out of resources → Kubernetes schedules new pods onto any node in the pool with room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368546"/>
            <a:ext cx="11274552" cy="738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dies → a controller notices within seconds and replaces it, no page needed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5106924"/>
            <a:ext cx="11274552" cy="738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machine dies → its pods reschedule onto surviving nodes automatically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5845302"/>
            <a:ext cx="11274552" cy="738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three are the same fix: desired state didn't change, only actual state did, and Kubernetes keeps closing that gap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Declarative Reconciliation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451860"/>
            <a:ext cx="5638800" cy="1273646"/>
          </a:xfrm>
          <a:prstGeom prst="rect">
            <a:avLst/>
          </a:prstGeom>
          <a:solidFill>
            <a:srgbClr val="C0EDF5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2502" y="3589020"/>
            <a:ext cx="5111496" cy="47365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pod.yaml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it again with no changes: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pod.yaml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pod/hello-pod unchanged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54496" y="1572768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Declarative, not imperative: you describe the end state you want, not the steps to get there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54496" y="2825496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apply means "make the cluster match this file" — and keep it matching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54496" y="4078224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Re-running apply with no changes reports unchanged because reality already matches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54496" y="5330952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loop, running continuously instead of once, is exactly what makes a Deployment self-heal a deleted Pod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A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Plane vs. Worker Nodes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 every component behind the API server door.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Plane Components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server — </a:t>
            </a: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front door; all communication in Kubernetes goes through it, and it's the only component that talks directly to etcd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574950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etcd — </a:t>
            </a: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strongly-consistent key-value store holding all cluster state; lose it, you lose the cluster's memory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77133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 — </a:t>
            </a: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job: picks which node a new Pod lands 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579315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manager — </a:t>
            </a: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the background reconciliation loops that compare desired vs. actual state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5581498"/>
            <a:ext cx="11274552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kubelet — </a:t>
            </a: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on every node (control plane included); starts/stops containers per API server instructions and reports status back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Request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81378"/>
            <a:ext cx="1589532" cy="754380"/>
          </a:xfrm>
          <a:prstGeom prst="roundRect">
            <a:avLst>
              <a:gd name="adj" fmla="val 1212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81378"/>
            <a:ext cx="158953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46732" y="1881378"/>
            <a:ext cx="34747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94204" y="1881378"/>
            <a:ext cx="1589532" cy="754380"/>
          </a:xfrm>
          <a:prstGeom prst="roundRect">
            <a:avLst>
              <a:gd name="adj" fmla="val 1212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94204" y="1881378"/>
            <a:ext cx="158953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83736" y="1881378"/>
            <a:ext cx="34747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31208" y="1881378"/>
            <a:ext cx="1589532" cy="754380"/>
          </a:xfrm>
          <a:prstGeom prst="roundRect">
            <a:avLst>
              <a:gd name="adj" fmla="val 1212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31208" y="1881378"/>
            <a:ext cx="158953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etcd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20740" y="1881378"/>
            <a:ext cx="34747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68212" y="1881378"/>
            <a:ext cx="1589532" cy="754380"/>
          </a:xfrm>
          <a:prstGeom prst="roundRect">
            <a:avLst>
              <a:gd name="adj" fmla="val 1212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8212" y="1881378"/>
            <a:ext cx="158953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57744" y="1881378"/>
            <a:ext cx="34747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05216" y="1881378"/>
            <a:ext cx="1589532" cy="754380"/>
          </a:xfrm>
          <a:prstGeom prst="roundRect">
            <a:avLst>
              <a:gd name="adj" fmla="val 1212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05216" y="1881378"/>
            <a:ext cx="158953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kubelet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94748" y="1881378"/>
            <a:ext cx="34747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142220" y="1881378"/>
            <a:ext cx="1589532" cy="754380"/>
          </a:xfrm>
          <a:prstGeom prst="roundRect">
            <a:avLst>
              <a:gd name="adj" fmla="val 12121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42220" y="1881378"/>
            <a:ext cx="1589532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1) kubectl command sent to the API server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621024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2) API server validates it, saves the plan to etcd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3) API server asks the scheduler which node to use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608576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4) Scheduler picks a node; decision recorded back in etcd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5102352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5–6) API server tells kubelet on that node to build it; kubelet runs the container-engine commands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5596128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7) kubelet continuously reports status back to the API server → etcd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089904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is created first, container is created inside it second — never the reverse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7A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Pods, Deployments &amp; Self-Healing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bare Pod isn't enough — and what fixes it.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Pods: The Atomic Unit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6614" y="2814223"/>
            <a:ext cx="5204564" cy="2626457"/>
          </a:xfrm>
          <a:prstGeom prst="rect">
            <a:avLst/>
          </a:prstGeom>
          <a:solidFill>
            <a:srgbClr val="C0EDF5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807" y="3007899"/>
            <a:ext cx="5111496" cy="47365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hello-pod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hello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hello-container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image: nginx:alpine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54496" y="1572768"/>
            <a:ext cx="5477256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Smallest deployable unit — a thin wrapper around one or more containers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54496" y="2574950"/>
            <a:ext cx="5477256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kind: Pod is case-sensitive; lowercase pod fails outright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54496" y="3577133"/>
            <a:ext cx="5477256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labels do nothing by themselves yet — but the next slide depends entirely on them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54496" y="4579315"/>
            <a:ext cx="5477256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experiment: kubectl delete pod hello-pod → kubectl get pods → No resources found in default namespace.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54496" y="5581498"/>
            <a:ext cx="5477256" cy="100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does not come back — a bare Pod has no supervisor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→ ReplicaSet → Pod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40230"/>
            <a:ext cx="3526536" cy="653796"/>
          </a:xfrm>
          <a:prstGeom prst="roundRect">
            <a:avLst>
              <a:gd name="adj" fmla="val 13986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40230"/>
            <a:ext cx="3526536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83736" y="1840230"/>
            <a:ext cx="347472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31208" y="1840230"/>
            <a:ext cx="3526536" cy="653796"/>
          </a:xfrm>
          <a:prstGeom prst="roundRect">
            <a:avLst>
              <a:gd name="adj" fmla="val 13986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31208" y="1840230"/>
            <a:ext cx="3526536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57744" y="1840230"/>
            <a:ext cx="347472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05216" y="1840230"/>
            <a:ext cx="3526536" cy="653796"/>
          </a:xfrm>
          <a:prstGeom prst="roundRect">
            <a:avLst>
              <a:gd name="adj" fmla="val 13986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05216" y="1840230"/>
            <a:ext cx="3526536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Pod(s)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6040984" cy="3639312"/>
          </a:xfrm>
          <a:prstGeom prst="rect">
            <a:avLst/>
          </a:prstGeom>
          <a:solidFill>
            <a:srgbClr val="C0EDF5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081528"/>
            <a:ext cx="5675224" cy="33649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hello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      # a full Pod spec, nested one level deeper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labels: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app: hello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8224" y="2944368"/>
            <a:ext cx="4913528" cy="909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doesn't run containers directly — it manages a ReplicaSet, which maintains a fixed Pod count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8224" y="3854196"/>
            <a:ext cx="4913528" cy="909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one managed Pod: it disappears, a brand-new one (new random suffix) appears almost immediately, count never drops below desired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8224" y="4764024"/>
            <a:ext cx="4913528" cy="909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declarative reconciliation loop as Slide 8 — just running continuously instead of once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8224" y="5673852"/>
            <a:ext cx="4913528" cy="909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5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scale --replicas=5 just changes what "desired" means; the same loop does the rest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7A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Services, Config/Secrets &amp; the Capstone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 networking, externalized config, and how it all composes.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Services: Stable Addresses Over Disposable Pods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5676" y="3581880"/>
            <a:ext cx="5638800" cy="992688"/>
          </a:xfrm>
          <a:prstGeom prst="rect">
            <a:avLst/>
          </a:prstGeom>
          <a:solidFill>
            <a:srgbClr val="C0EDF5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7448" y="3682464"/>
            <a:ext cx="5936085" cy="47131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expose deployment hello-deploy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--port=80 --target-port=80 --name=hello-service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3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TYPE: ClusterIP   CLUSTER-IP: 10.x.x.x (stays fixed)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54496" y="1572768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Pod gets its own IP, but Pods are disposable — you just proved that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54496" y="2825496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Service is a permanent address that tracks whichever Pods match its label selector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54496" y="4078224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ClusterIP (default) — internal-only; NodePort — opens a port in the 30000–32767 range for external access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54496" y="5330952"/>
            <a:ext cx="5477256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Proof: delete a Pod behind a Service — CLUSTER-IP stays exactly the same the whole time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ConfigMaps &amp; Secrets: Externalizing Config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container image should run unmodified across dev, staging, prod — only config and credentials should differ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25496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 = plain configuration; Secret = sensitive values — same injection mechanism for both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078224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referenced from a Pod via valueFrom.configMapKeyRef / valueFrom.secretKeyRef, injected as env vars at startup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330952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are base64 encoded, not encrypted — anyone with API access can trivially decode them; fine for practice, not for production as-is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Capstone: Wiring It All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22526"/>
            <a:ext cx="1976933" cy="854964"/>
          </a:xfrm>
          <a:prstGeom prst="roundRect">
            <a:avLst>
              <a:gd name="adj" fmla="val 10695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2526"/>
            <a:ext cx="1976933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(mongo creds)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34133" y="1922526"/>
            <a:ext cx="34747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81605" y="1922526"/>
            <a:ext cx="1976933" cy="854964"/>
          </a:xfrm>
          <a:prstGeom prst="roundRect">
            <a:avLst>
              <a:gd name="adj" fmla="val 10695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1605" y="1922526"/>
            <a:ext cx="1976933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Deploy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ClusterIP Svc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8538" y="1922526"/>
            <a:ext cx="34747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06010" y="1922526"/>
            <a:ext cx="1976933" cy="854964"/>
          </a:xfrm>
          <a:prstGeom prst="roundRect">
            <a:avLst>
              <a:gd name="adj" fmla="val 10695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06010" y="1922526"/>
            <a:ext cx="1976933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(mongo URL)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82942" y="1922526"/>
            <a:ext cx="34747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30414" y="1922526"/>
            <a:ext cx="1976933" cy="854964"/>
          </a:xfrm>
          <a:prstGeom prst="roundRect">
            <a:avLst>
              <a:gd name="adj" fmla="val 10695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30414" y="1922526"/>
            <a:ext cx="1976933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 Deploy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NodePort Svc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07347" y="1922526"/>
            <a:ext cx="347472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54819" y="1922526"/>
            <a:ext cx="1976933" cy="854964"/>
          </a:xfrm>
          <a:prstGeom prst="roundRect">
            <a:avLst>
              <a:gd name="adj" fmla="val 10695"/>
            </a:avLst>
          </a:prstGeom>
          <a:solidFill>
            <a:srgbClr val="B8ECF5"/>
          </a:solidFill>
          <a:ln w="1905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54819" y="1922526"/>
            <a:ext cx="1976933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11274552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concept from the last four sections combines into one two-tier system (web app + MongoDB)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128516"/>
            <a:ext cx="11274552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gives every Service a DNS name matching its metadata.name — mongo-service resolves automatically, no IP involved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946904"/>
            <a:ext cx="11274552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order matters: the database's config must exist before the app that depends on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5765292"/>
            <a:ext cx="11274552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of wiring: kubectl exec deploy/webapp-deploy -- printenv MONGO_URL prints the full connection string, assembled purely from cluster objects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Gotchas &amp; Lessons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common real failure across Modules 1–5: a typo in key: or name: inside a configMapKeyRef/secretKeyRef → shows up as CreateContainerConfigError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25496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describe pod → the Events section is always the first move to diagnose a broken Pod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078224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Podman's Minikube driver is explicitly experimental — --driver=docker is the fallback if you hit an uncovered wall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330952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Base64 is encoding, not encryption — don't mistake a Secret for something actually secured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11274552" cy="4096512"/>
          </a:xfrm>
          <a:prstGeom prst="rect">
            <a:avLst/>
          </a:prstGeom>
          <a:solidFill>
            <a:srgbClr val="B8ECF5"/>
          </a:solidFill>
          <a:ln w="254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73152" cy="409651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10954512" cy="3822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guarantee Kubernetes makes — self-healing, scaling, zero-downtime rollout — reduces to one idea: you declare desired state, and a control loop never stops trying to make reality match it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Next: Open TUTORIAL.md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deck was the map — the territory starts now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25496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TUTORIAL.md, start at Module 0 (Setup &amp; Orientation): install Podman, start Minikube, run your first real kubectl get nodes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078224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 1–6 build in exactly today's order: Pods → Deployments → Services → Config/Secrets → Capstone → Cleanup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330952"/>
            <a:ext cx="11274552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docs/kubernetes-fundamentals-notes.md has the CKA/CKAD-style deeper reference once a concept clicks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007A90"/>
          </a:solidFill>
          <a:ln w="9525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0A1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2743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11274552" cy="4462272"/>
          </a:xfrm>
          <a:prstGeom prst="rect">
            <a:avLst/>
          </a:prstGeom>
          <a:solidFill>
            <a:srgbClr val="B8ECF5"/>
          </a:solidFill>
          <a:ln w="254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73152" cy="4462272"/>
          </a:xfrm>
          <a:prstGeom prst="rect">
            <a:avLst/>
          </a:prstGeom>
          <a:solidFill>
            <a:srgbClr val="007A90"/>
          </a:solidFill>
          <a:ln w="12700">
            <a:solidFill>
              <a:srgbClr val="007A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10954512" cy="418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automates lifecycle, scaling, and recovery — a dead container or a dead machine shouldn't take your app down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you'll touch is either control-plane brain (API server, etcd, scheduler, controller manager) or worker-node muscle (kubelet + its Pods)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A1A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all one reconciliation loop wearing different hats — remember that, and nothing from here on feels like unexplained magic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2249</Words>
  <Application>Microsoft Macintosh PowerPoint</Application>
  <PresentationFormat>Widescreen</PresentationFormat>
  <Paragraphs>226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KubernetesFundamentals Presentation</dc:title>
  <dc:subject>PptxGenJS Presentation</dc:subject>
  <dc:creator>gen-presentation</dc:creator>
  <cp:lastModifiedBy>Christopher Lee</cp:lastModifiedBy>
  <cp:revision>3</cp:revision>
  <dcterms:created xsi:type="dcterms:W3CDTF">2026-08-03T11:49:54Z</dcterms:created>
  <dcterms:modified xsi:type="dcterms:W3CDTF">2026-08-03T11:56:32Z</dcterms:modified>
</cp:coreProperties>
</file>